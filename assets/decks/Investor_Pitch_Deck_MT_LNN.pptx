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468B"/>
                </a:solidFill>
                <a:latin typeface="Helvetica"/>
              </a:defRPr>
            </a:pPr>
            <a:r>
              <a:t>MT-LNN: A Brain-Inspired Liquid Neural Network</a:t>
            </a:r>
          </a:p>
          <a:p>
            <a:r>
              <a:t>液态神经网络重塑大模型架构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solidFill>
                  <a:srgbClr val="3C3C3C"/>
                </a:solidFill>
                <a:latin typeface="Helvetica"/>
              </a:defRPr>
            </a:pPr>
            <a:r>
              <a:t>Breaking the Memory Wall (打破内存墙)</a:t>
            </a:r>
          </a:p>
          <a:p>
            <a:pPr>
              <a:defRPr sz="2400" b="0">
                <a:solidFill>
                  <a:srgbClr val="3C3C3C"/>
                </a:solidFill>
                <a:latin typeface="Helvetica"/>
              </a:defRPr>
            </a:pPr>
            <a:r>
              <a:t>EverestAn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1. The AI Memory Crisis (AI 行业的内存危机)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LLMs compete on Context Length (200K+ tokens).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但是，支撑超长文本的计算成本呈指数级爆炸。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OOM (Out Of Memory) limits local deployments.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Transformer's bottleneck is physical memory, not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2. The Root Cause: KV Cache (元凶：KV缓存)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Transformer acts like a forced video recorder.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预测下一个词时，必须把过去每一个字的特征放在显存里。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Memory complexity scales at O(N). Compute scales at O(N^2).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- 10万字的上下文会让一张昂贵的 A100 直接塞满。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3. A Dead End for Enterprises (算力堆叠是死胡同)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Cloud costs for millions of tokens are prohibitive.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面对高并发请求，云服务商只能靠堆叠万亿算力。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Latency drops exponentially as context grows.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端侧 (Edge AI) 无法运行大模型，因为手机 RAM 只有十几 GB。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4. Biological Inspiration (生物学启示：人脑机制)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The human brain does not remember every pixel.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人脑绝不可能记住十年来每个画面的精确参数。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We rely on Working Memory and Selective Forgetting.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我们依靠“工作记忆”和“选择性遗忘”。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5. What is a Liquid Neural Network? (什么是液态脑)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An architecture whose state constantly dynamically flows.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一种状态随时间动态流动的结构，区别于静态权重。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Forget the noise, compress the needle.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只提取核心概要，遗忘冗余废话，把千言万语压缩。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6. Introducing MT-LNN (我们的方案：MT-LNN 架构登场)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Memory-Token Linear Neural Network.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记忆令牌线性神经网络。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Replaces standard Self-Attention with Linear Attention.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抛弃标准自注意力机制，采用纯线性算子。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7. The Core: Selective Copy (核心：选择性记忆机制)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Uses dynamic gating to explicitly select what to retain.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引入动态门控，明确选择在长文中保留什么，丢弃什么。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Resolves 'Lost in the middle' phenomenon.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彻底解决大模型长文中间的“遗忘”现象。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8. Deep Dive 1: Parallel Scan (深度解析：线性并行扫描)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Allows for highly efficient hardware utilization.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并行扫描使得线性处理速度比传统 RNN 快百倍。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Every token adds O(1) constant overhead.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每一个新单词的计算量都是 O(1) 常数，永远不升。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9. Deep Dive 2: Quantum Coupling (深度解析：量子启发耦合)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State mixing inspired by quantum entanglement states.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使用量子态灵感混合隐藏状态。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Multi-head parallel routing of memory states.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多头并行路由，增强特征维度的提取能力。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10. The Mathematics of Edge Support (边缘计算的数学保障)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State h_t = f(h_t-1, x_t).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Only the fixed-size h vector is kept in memory.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模型不需要保存过去词的 KV 矩阵，仅需保留固定大小向量。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完美适配 8GB 以下内存的手机和 AR 设备。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11. Cost Explosion vs. MT-LNN (成本爆炸图解)</a:t>
            </a:r>
          </a:p>
        </p:txBody>
      </p:sp>
      <p:pic>
        <p:nvPicPr>
          <p:cNvPr id="3" name="Picture 2" descr="fig_cos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Red: Transformer O(N) memory / O(N^2) compute.</a:t>
            </a:r>
          </a:p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Blue: MT-LNN O(1) memory / O(1) compute.</a:t>
            </a:r>
          </a:p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红线：Transformer长文本深渊；蓝线：MT-LNN的类脑常数飞行。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12. Benchmark 1: Needle in a Haystack (核心评测：大海捞针)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Tested on 128K context retrieval.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- 12万字极度长文提取测试。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MT-LNN retains 99%+ accuracy independent of depth.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无视深度，精准命中（得益于 Selective Copy）。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13. Benchmark 2: Selective Copying (核心评测：抗干扰测试)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Retaining sequences separated by 1000+ noisy tokens.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跨越千字噪音阻隔，精准复制指令。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Completely outperforms classic global attention.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面对巨量噪音的稳健性碾压传统注意力。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14. Performance Radar (雷达图：维度对比)</a:t>
            </a:r>
          </a:p>
        </p:txBody>
      </p:sp>
      <p:pic>
        <p:nvPicPr>
          <p:cNvPr id="3" name="Picture 2" descr="fig_benchmark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026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MT-LNN matches SOTA in Long Context &amp; blows them away in Deployment/Cost.</a:t>
            </a:r>
          </a:p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通用知识因参数量小暂处劣势，但在核心部署性能上碾压大厂。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15. The Honest Trade-off (诚实的权衡：放弃百科知识)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We are not competing to be a Wikipedia engine.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我们不和千亿美金的 GPT-4o 拼“通用常识百科库”。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We focus on reasoning logic and ultra-long structural memory.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把所有参数压在逻辑推理与无限期超级记忆上。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16. Competitor Analysis: Claude/GPT (对标巨头：垂直收割)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Claude 3.5 requires API/Cloud, zero privacy.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大厂模型无法本地化，企业数据缺乏隐私。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MT-LNN offers private, localized million-token RAG.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MT-LNN 提供完全本地化、隐私受控的长文知识库。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17. Competitor Analysis: Mamba &amp; RWKV (生态对抗：同赛道)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Open-source linear models lack needle-retrieval fidelity.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Mamba 等方案难以保证极长文精确寻点。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MT-LNN's explicit state tracking solves linear deterioration.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我们的显式量子门控阻止了线性衰减。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18. Economics: 90% Cost Reduction (商业优势重塑：降本 90%)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Cloud hosting inference drops from millions to thousands.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云端推理服务器架构大幅度降级，每月节约数万元。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Server costs no longer tie to context length.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用户不管输入多长的文本，不再增加任何云端边际成本。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19. High Concurrency Capacity (高并发承载力)</a:t>
            </a:r>
          </a:p>
        </p:txBody>
      </p:sp>
      <p:pic>
        <p:nvPicPr>
          <p:cNvPr id="3" name="Picture 2" descr="fig_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To handle 100 users querying 100k tokens at the same time:</a:t>
            </a:r>
          </a:p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A100 crashes instantly. RTX 4090 handles it with MT-LNN's constant state.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20. Market 1: Edge Computing &amp; IoT (下沉市场：IoT与端侧)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Phones, AR Glasses, On-device assistants.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手机私有大模型、AR眼镜全天候音视频分析核心。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Continuous streaming inputs won't drain the battery.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绝不会因为 24 小时保持倾听而撑爆内存、发烫。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21. Market 2: B2B Enterprise Deploy (企业痛点：私有化部署)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Law firms, financial PDF audits, codebase analysis.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律所看卷宗、投行看财报、科技公司分析百万行代码。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Requires large context, requires privacy, requires low hardware.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需要长大模型，且数据不能出域。完美契合 MT-LNN。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22. The Future Tech Landscape (技术生态排位占领)</a:t>
            </a:r>
          </a:p>
        </p:txBody>
      </p:sp>
      <p:pic>
        <p:nvPicPr>
          <p:cNvPr id="3" name="Picture 2" descr="fig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51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Top Right: The ultimate quadrant of long context AND edge deployability.</a:t>
            </a:r>
          </a:p>
          <a:p>
            <a:pPr>
              <a:defRPr sz="1600" b="0">
                <a:solidFill>
                  <a:srgbClr val="3C3C3C"/>
                </a:solidFill>
                <a:latin typeface="Helvetica"/>
              </a:defRPr>
            </a:pPr>
            <a:r>
              <a:t>右上角：唯一兼具极长文本掌控力与下沉端侧部署能力的架构。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23. Strategic Roadmap Overview (三阶段路线图概览)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Moving from Proof of Concept to General Artificial Intelligence.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从本地超级知识库，走向下一代通用大模型。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Fast, extremely capital efficient progression.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凭借架构极度省算力的优势，拥有最快的迭代速度。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24. Roadmap Stage 1: The 1.5B Proof (阶段一：验证原语)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Timeline: Now.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现状：已用 15 美元，在 1.5B Qwen 规模上跑通极长大海捞针。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Goal: Secure initial VC funding and publish core paper.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目标：通过极小成本的 Demo 验证原设。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25. Roadmap Stage 2: The 7B King (阶段二：专业微调王者)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Timeline: Next 3-6 months.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未来半载：使用 4x A100 训练 7B 企业级原生模型。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Application: Sell vertical B2B solutions.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应用：全面碾压企业级合同审查、金融报告等长文档 RAG。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26. Roadmap Stage 3: AGI Challenger (阶段三：通用架构颠覆)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Timeline: 1 to 3 Years.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终局之战：筹建 512x H100 集群，训出 70B+ 千亿巨兽。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Full-scale replacement of standard Transformer architectures.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在全范围（含通用知识）内，全面替换过时的 Transformer。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27. Defensibility &amp; IP Moats (护城河在哪里？)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Core algorithmic code base open-sourced for standard adoption.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算法基础开源，吸引广大开发者形成生态。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Specialized quantization and CUDA kernels remain in-house.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高速并行 CUDA 算子与极限压缩量化闭源提供商业支撑。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28. Current Progress &amp; RAG UI Demo (目前应用：RAG 系统)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Successfully built a complete RAG UI in PyTorch/Gradio.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已跑通完全本地部署的百万字个人知识库 RAG Demo。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Deploys immediately via container to any platform.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一键部署支持云平台、HuggingFace 与本地 Windows。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29. Summary: Why Invest Now? (结语：为何现在下注？)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Transformer has reached its physical efficiency limit.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Transformer 路线“大力出奇迹”已达物理硬件的极限瓶颈。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The memory wall requires a fundamental architecture shift.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只有底层算法级的跨越，才能打破昂贵的“内存墙”。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We have the architecture, the code, and the benchmarks.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我们握有类脑算法钥匙、能跑出来的实机代码、与碾压级降本数据。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B"/>
                </a:solidFill>
                <a:latin typeface="Helvetica"/>
              </a:defRPr>
            </a:pPr>
            <a:r>
              <a:t>30. Appendix &amp; Links (资源与相关链接)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Demo Repo: github.com/everest-an/Awareness-O1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Core Arch Repo: github.com/everest-an/O1</a:t>
            </a:r>
          </a:p>
          <a:p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- Cloud Training Setup: check CLOUD_TRAINING_GUIDE.md</a:t>
            </a:r>
          </a:p>
          <a:p>
            <a:br/>
            <a:pPr>
              <a:defRPr sz="1800" b="0">
                <a:solidFill>
                  <a:srgbClr val="3C3C3C"/>
                </a:solidFill>
                <a:latin typeface="Helvetica"/>
              </a:defRPr>
            </a:pPr>
            <a:r>
              <a:t>Thank you. Liquidize the AI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